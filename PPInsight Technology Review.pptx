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2e1038d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2e1038d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2e1038d0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2e1038d0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2e1038d0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2e1038d0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UniProt API accesses the UniProt database, which can also be done via BioPython. This is a good option because all the proteins in this database are reviewed by the Swiss Institute of Bioinformatics, which ensures that all data are high-quality. The API also lets you use any programming language to interface with the database website, so it’s a good option for users who come from diverse programming backgrounds. (Although this could also be an issue since we plan to have a Python-based workflow for this project.) The biggest drawback of UniProt is that it only contains proteins. Unlike Entrez, there are no DNA structures or other molecules, so interactions that involve a non-protein catalyst cannot be modeled. Additionally, the database is currently making major changes which involve removing files of taxonomically unclassified proteins, potentially causing nasty surprises for users until this process is finished some time in 2026.</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2e1038d0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2e1038d0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Another technology option to help us carry out our first task is Biopython Entrez. This is a package in the Biopython library that provides a direct interface to NCBI’s Entrez databases, which includes sequence data for biological molecules.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One strength of the Entrez database is that it contains sequences for DNA and RNA. So if someone is using our tool to run PPI models on protein-interactions that require a non-protein binding partner, they could easily fetch sequence data for that molecule via Entrez.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However one downside to Entrez is that it only provides sequence data, not 3D structural files, so those would need to be pulled from a separate database using different Biopython packages if a certain PPI model downstream required structural inputs to make predictions.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Another issue is that searches can sometimes return multiple hits for the same protein name, which means we’d have to add extra code to handle or disambiguate those results.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2e1038d0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2e1038d0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2e1038d0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2e1038d0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of selections</a:t>
            </a:r>
            <a:endParaRPr/>
          </a:p>
          <a:p>
            <a:pPr indent="-298450" lvl="0" marL="457200" rtl="0" algn="l">
              <a:spcBef>
                <a:spcPts val="0"/>
              </a:spcBef>
              <a:spcAft>
                <a:spcPts val="0"/>
              </a:spcAft>
              <a:buSzPts val="1100"/>
              <a:buChar char="-"/>
            </a:pPr>
            <a:r>
              <a:rPr lang="en"/>
              <a:t>So the first two packages utilize biopython: which is an open-source collection of Python tools and libraries for computational biology and bioinformatics</a:t>
            </a:r>
            <a:endParaRPr/>
          </a:p>
          <a:p>
            <a:pPr indent="-298450" lvl="0" marL="457200" rtl="0" algn="l">
              <a:spcBef>
                <a:spcPts val="0"/>
              </a:spcBef>
              <a:spcAft>
                <a:spcPts val="0"/>
              </a:spcAft>
              <a:buSzPts val="1100"/>
              <a:buChar char="-"/>
            </a:pPr>
            <a:r>
              <a:rPr lang="en"/>
              <a:t>include FASTA, FASTQ, GenBank, and EMBL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the key differences that we see are : Uniprot- a higher class protein database, it highly specializes in protein-protein interactions, but because of that higher standard we may have files removed in the future which may necessitate having to change gears in the future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Enterez - less organized, but more widely used in the bioinformatics field but has some limitations such as containing only sequence data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Enterez is the choice source for downloading protein </a:t>
            </a:r>
            <a:r>
              <a:rPr lang="en"/>
              <a:t>information- then the final step is choosing if we want it to be integrated through a python based packaging system or directly from the command line interface.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CLI allows us to be able to ensure longevity as well as have the availability of parllelization. This could be better if biopython packages updates, but can be more arduous on the front end as well as more complex- which may not be necessary for the scope of this project, but may be more useful if we were to have a more integrated and established software.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ebi-uniprot" TargetMode="External"/><Relationship Id="rId4" Type="http://schemas.openxmlformats.org/officeDocument/2006/relationships/hyperlink" Target="https://biopython.org/docs/dev/api/Bio.UniProt.html" TargetMode="External"/><Relationship Id="rId5" Type="http://schemas.openxmlformats.org/officeDocument/2006/relationships/hyperlink" Target="https://www.uniprot.org/help/programmatic_access" TargetMode="External"/><Relationship Id="rId6" Type="http://schemas.openxmlformats.org/officeDocument/2006/relationships/image" Target="../media/image7.png"/><Relationship Id="rId7"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i="1" lang="en">
                <a:latin typeface="Calibri"/>
                <a:ea typeface="Calibri"/>
                <a:cs typeface="Calibri"/>
                <a:sym typeface="Calibri"/>
              </a:rPr>
              <a:t>PPInsight</a:t>
            </a:r>
            <a:r>
              <a:rPr lang="en">
                <a:latin typeface="Calibri"/>
                <a:ea typeface="Calibri"/>
                <a:cs typeface="Calibri"/>
                <a:sym typeface="Calibri"/>
              </a:rPr>
              <a:t> Technology Review</a:t>
            </a:r>
            <a:endParaRPr>
              <a:latin typeface="Calibri"/>
              <a:ea typeface="Calibri"/>
              <a:cs typeface="Calibri"/>
              <a:sym typeface="Calibri"/>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Calibri"/>
                <a:ea typeface="Calibri"/>
                <a:cs typeface="Calibri"/>
                <a:sym typeface="Calibri"/>
              </a:rPr>
              <a:t>Ike K., Maya G.H., Rita K., Fiona M, and Walter A.</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Conceptual Framework</a:t>
            </a:r>
            <a:endParaRPr b="1">
              <a:latin typeface="Calibri"/>
              <a:ea typeface="Calibri"/>
              <a:cs typeface="Calibri"/>
              <a:sym typeface="Calibri"/>
            </a:endParaRPr>
          </a:p>
        </p:txBody>
      </p:sp>
      <p:pic>
        <p:nvPicPr>
          <p:cNvPr id="61" name="Google Shape;61;p14" title="PPInsight Conceptual Diagram.jpeg"/>
          <p:cNvPicPr preferRelativeResize="0"/>
          <p:nvPr/>
        </p:nvPicPr>
        <p:blipFill>
          <a:blip r:embed="rId3">
            <a:alphaModFix/>
          </a:blip>
          <a:stretch>
            <a:fillRect/>
          </a:stretch>
        </p:blipFill>
        <p:spPr>
          <a:xfrm>
            <a:off x="1028175" y="1147275"/>
            <a:ext cx="7087657" cy="38209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Task 1 - Fetching protein data</a:t>
            </a:r>
            <a:endParaRPr b="1">
              <a:latin typeface="Calibri"/>
              <a:ea typeface="Calibri"/>
              <a:cs typeface="Calibri"/>
              <a:sym typeface="Calibri"/>
            </a:endParaRPr>
          </a:p>
        </p:txBody>
      </p:sp>
      <p:pic>
        <p:nvPicPr>
          <p:cNvPr id="67" name="Google Shape;67;p15" title="create_FASTA( ).png"/>
          <p:cNvPicPr preferRelativeResize="0"/>
          <p:nvPr/>
        </p:nvPicPr>
        <p:blipFill>
          <a:blip r:embed="rId3">
            <a:alphaModFix/>
          </a:blip>
          <a:stretch>
            <a:fillRect/>
          </a:stretch>
        </p:blipFill>
        <p:spPr>
          <a:xfrm>
            <a:off x="1217050" y="539900"/>
            <a:ext cx="6834202" cy="47852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Option 1: Biopython UniProt API</a:t>
            </a:r>
            <a:endParaRPr b="1">
              <a:latin typeface="Calibri"/>
              <a:ea typeface="Calibri"/>
              <a:cs typeface="Calibri"/>
              <a:sym typeface="Calibri"/>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Function</a:t>
            </a:r>
            <a:endParaRPr/>
          </a:p>
          <a:p>
            <a:pPr indent="-317500" lvl="1" marL="914400" rtl="0" algn="l">
              <a:spcBef>
                <a:spcPts val="0"/>
              </a:spcBef>
              <a:spcAft>
                <a:spcPts val="0"/>
              </a:spcAft>
              <a:buSzPts val="1400"/>
              <a:buChar char="○"/>
            </a:pPr>
            <a:r>
              <a:rPr lang="en"/>
              <a:t>Accesses the UniProt database</a:t>
            </a:r>
            <a:endParaRPr/>
          </a:p>
          <a:p>
            <a:pPr indent="-317500" lvl="1" marL="914400" rtl="0" algn="l">
              <a:spcBef>
                <a:spcPts val="0"/>
              </a:spcBef>
              <a:spcAft>
                <a:spcPts val="0"/>
              </a:spcAft>
              <a:buSzPts val="1400"/>
              <a:buChar char="○"/>
            </a:pPr>
            <a:r>
              <a:rPr lang="en"/>
              <a:t>Can be integrated with BioPython</a:t>
            </a:r>
            <a:endParaRPr/>
          </a:p>
          <a:p>
            <a:pPr indent="-342900" lvl="0" marL="457200" rtl="0" algn="l">
              <a:spcBef>
                <a:spcPts val="0"/>
              </a:spcBef>
              <a:spcAft>
                <a:spcPts val="0"/>
              </a:spcAft>
              <a:buSzPts val="1800"/>
              <a:buChar char="●"/>
            </a:pPr>
            <a:r>
              <a:rPr lang="en"/>
              <a:t>Appeal of package</a:t>
            </a:r>
            <a:endParaRPr/>
          </a:p>
          <a:p>
            <a:pPr indent="-317500" lvl="1" marL="914400" rtl="0" algn="l">
              <a:spcBef>
                <a:spcPts val="0"/>
              </a:spcBef>
              <a:spcAft>
                <a:spcPts val="0"/>
              </a:spcAft>
              <a:buSzPts val="1400"/>
              <a:buChar char="○"/>
            </a:pPr>
            <a:r>
              <a:rPr lang="en"/>
              <a:t>All proteins reviewed Swiss-Prot entries – high quality</a:t>
            </a:r>
            <a:endParaRPr/>
          </a:p>
          <a:p>
            <a:pPr indent="-317500" lvl="1" marL="914400" rtl="0" algn="l">
              <a:spcBef>
                <a:spcPts val="0"/>
              </a:spcBef>
              <a:spcAft>
                <a:spcPts val="0"/>
              </a:spcAft>
              <a:buSzPts val="1400"/>
              <a:buChar char="○"/>
            </a:pPr>
            <a:r>
              <a:rPr lang="en"/>
              <a:t>Can use any programming language</a:t>
            </a:r>
            <a:endParaRPr/>
          </a:p>
          <a:p>
            <a:pPr indent="-342900" lvl="0" marL="457200" rtl="0" algn="l">
              <a:spcBef>
                <a:spcPts val="0"/>
              </a:spcBef>
              <a:spcAft>
                <a:spcPts val="0"/>
              </a:spcAft>
              <a:buSzPts val="1800"/>
              <a:buChar char="●"/>
            </a:pPr>
            <a:r>
              <a:rPr lang="en"/>
              <a:t>Downsides</a:t>
            </a:r>
            <a:endParaRPr/>
          </a:p>
          <a:p>
            <a:pPr indent="-317500" lvl="1" marL="914400" rtl="0" algn="l">
              <a:spcBef>
                <a:spcPts val="0"/>
              </a:spcBef>
              <a:spcAft>
                <a:spcPts val="0"/>
              </a:spcAft>
              <a:buSzPts val="1400"/>
              <a:buChar char="○"/>
            </a:pPr>
            <a:r>
              <a:rPr lang="en"/>
              <a:t>Does not include DNA structures or other molecules</a:t>
            </a:r>
            <a:endParaRPr/>
          </a:p>
          <a:p>
            <a:pPr indent="-317500" lvl="1" marL="914400" rtl="0" algn="l">
              <a:spcBef>
                <a:spcPts val="0"/>
              </a:spcBef>
              <a:spcAft>
                <a:spcPts val="0"/>
              </a:spcAft>
              <a:buSzPts val="1400"/>
              <a:buChar char="○"/>
            </a:pPr>
            <a:r>
              <a:rPr lang="en"/>
              <a:t>Currently undergoing transition that will remove many files</a:t>
            </a:r>
            <a:endParaRPr/>
          </a:p>
          <a:p>
            <a:pPr indent="-342900" lvl="0" marL="457200" rtl="0" algn="l">
              <a:spcBef>
                <a:spcPts val="0"/>
              </a:spcBef>
              <a:spcAft>
                <a:spcPts val="0"/>
              </a:spcAft>
              <a:buSzPts val="1800"/>
              <a:buChar char="●"/>
            </a:pPr>
            <a:r>
              <a:rPr lang="en"/>
              <a:t>Helpful links</a:t>
            </a:r>
            <a:endParaRPr/>
          </a:p>
          <a:p>
            <a:pPr indent="-317500" lvl="1" marL="914400" rtl="0" algn="l">
              <a:spcBef>
                <a:spcPts val="0"/>
              </a:spcBef>
              <a:spcAft>
                <a:spcPts val="0"/>
              </a:spcAft>
              <a:buSzPts val="1400"/>
              <a:buChar char="○"/>
            </a:pPr>
            <a:r>
              <a:rPr lang="en" u="sng">
                <a:solidFill>
                  <a:schemeClr val="hlink"/>
                </a:solidFill>
                <a:hlinkClick r:id="rId3"/>
              </a:rPr>
              <a:t>https://github.com/ebi-uniprot</a:t>
            </a:r>
            <a:endParaRPr/>
          </a:p>
          <a:p>
            <a:pPr indent="-317500" lvl="1" marL="914400" rtl="0" algn="l">
              <a:spcBef>
                <a:spcPts val="0"/>
              </a:spcBef>
              <a:spcAft>
                <a:spcPts val="0"/>
              </a:spcAft>
              <a:buSzPts val="1400"/>
              <a:buChar char="○"/>
            </a:pPr>
            <a:r>
              <a:rPr lang="en" u="sng">
                <a:solidFill>
                  <a:schemeClr val="accent5"/>
                </a:solidFill>
                <a:hlinkClick r:id="rId4">
                  <a:extLst>
                    <a:ext uri="{A12FA001-AC4F-418D-AE19-62706E023703}">
                      <ahyp:hlinkClr val="tx"/>
                    </a:ext>
                  </a:extLst>
                </a:hlinkClick>
              </a:rPr>
              <a:t>https://biopython.org/docs/dev/api/Bio.UniProt.html</a:t>
            </a:r>
            <a:endParaRPr/>
          </a:p>
          <a:p>
            <a:pPr indent="-317500" lvl="1" marL="914400" rtl="0" algn="l">
              <a:spcBef>
                <a:spcPts val="0"/>
              </a:spcBef>
              <a:spcAft>
                <a:spcPts val="0"/>
              </a:spcAft>
              <a:buSzPts val="1400"/>
              <a:buChar char="○"/>
            </a:pPr>
            <a:r>
              <a:rPr lang="en" u="sng">
                <a:solidFill>
                  <a:schemeClr val="hlink"/>
                </a:solidFill>
                <a:hlinkClick r:id="rId5"/>
              </a:rPr>
              <a:t>https://www.uniprot.org/help/programmatic_access</a:t>
            </a:r>
            <a:endParaRPr/>
          </a:p>
        </p:txBody>
      </p:sp>
      <p:pic>
        <p:nvPicPr>
          <p:cNvPr id="74" name="Google Shape;74;p16"/>
          <p:cNvPicPr preferRelativeResize="0"/>
          <p:nvPr/>
        </p:nvPicPr>
        <p:blipFill>
          <a:blip r:embed="rId6">
            <a:alphaModFix/>
          </a:blip>
          <a:stretch>
            <a:fillRect/>
          </a:stretch>
        </p:blipFill>
        <p:spPr>
          <a:xfrm>
            <a:off x="6890175" y="2513013"/>
            <a:ext cx="1409700" cy="695325"/>
          </a:xfrm>
          <a:prstGeom prst="rect">
            <a:avLst/>
          </a:prstGeom>
          <a:noFill/>
          <a:ln>
            <a:noFill/>
          </a:ln>
        </p:spPr>
      </p:pic>
      <p:pic>
        <p:nvPicPr>
          <p:cNvPr id="75" name="Google Shape;75;p16"/>
          <p:cNvPicPr preferRelativeResize="0"/>
          <p:nvPr/>
        </p:nvPicPr>
        <p:blipFill>
          <a:blip r:embed="rId7">
            <a:alphaModFix/>
          </a:blip>
          <a:stretch>
            <a:fillRect/>
          </a:stretch>
        </p:blipFill>
        <p:spPr>
          <a:xfrm>
            <a:off x="6535150" y="1058788"/>
            <a:ext cx="2119749" cy="1413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Option 2: Biopython Entrez</a:t>
            </a:r>
            <a:endParaRPr b="1">
              <a:latin typeface="Calibri"/>
              <a:ea typeface="Calibri"/>
              <a:cs typeface="Calibri"/>
              <a:sym typeface="Calibri"/>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Function</a:t>
            </a:r>
            <a:endParaRPr/>
          </a:p>
          <a:p>
            <a:pPr indent="-317500" lvl="1" marL="914400" rtl="0" algn="l">
              <a:spcBef>
                <a:spcPts val="0"/>
              </a:spcBef>
              <a:spcAft>
                <a:spcPts val="0"/>
              </a:spcAft>
              <a:buSzPts val="1400"/>
              <a:buChar char="○"/>
            </a:pPr>
            <a:r>
              <a:rPr lang="en"/>
              <a:t>Provides a Python interface to NCBI’s Entrez databases</a:t>
            </a:r>
            <a:endParaRPr/>
          </a:p>
          <a:p>
            <a:pPr indent="-342900" lvl="0" marL="457200" rtl="0" algn="l">
              <a:spcBef>
                <a:spcPts val="0"/>
              </a:spcBef>
              <a:spcAft>
                <a:spcPts val="0"/>
              </a:spcAft>
              <a:buSzPts val="1800"/>
              <a:buChar char="●"/>
            </a:pPr>
            <a:r>
              <a:rPr lang="en"/>
              <a:t>Appeal of package</a:t>
            </a:r>
            <a:endParaRPr/>
          </a:p>
          <a:p>
            <a:pPr indent="-317500" lvl="1" marL="914400" rtl="0" algn="l">
              <a:spcBef>
                <a:spcPts val="0"/>
              </a:spcBef>
              <a:spcAft>
                <a:spcPts val="0"/>
              </a:spcAft>
              <a:buSzPts val="1400"/>
              <a:buChar char="○"/>
            </a:pPr>
            <a:r>
              <a:rPr lang="en"/>
              <a:t>Well documented library and widely used in bioinformatics</a:t>
            </a:r>
            <a:endParaRPr/>
          </a:p>
          <a:p>
            <a:pPr indent="-317500" lvl="1" marL="914400" rtl="0" algn="l">
              <a:spcBef>
                <a:spcPts val="0"/>
              </a:spcBef>
              <a:spcAft>
                <a:spcPts val="0"/>
              </a:spcAft>
              <a:buSzPts val="1400"/>
              <a:buChar char="○"/>
            </a:pPr>
            <a:r>
              <a:rPr lang="en"/>
              <a:t>Entrez contains sequence data for different molecule types</a:t>
            </a:r>
            <a:endParaRPr/>
          </a:p>
          <a:p>
            <a:pPr indent="-342900" lvl="0" marL="457200" rtl="0" algn="l">
              <a:spcBef>
                <a:spcPts val="0"/>
              </a:spcBef>
              <a:spcAft>
                <a:spcPts val="0"/>
              </a:spcAft>
              <a:buSzPts val="1800"/>
              <a:buChar char="●"/>
            </a:pPr>
            <a:r>
              <a:rPr lang="en"/>
              <a:t>Downsides</a:t>
            </a:r>
            <a:endParaRPr/>
          </a:p>
          <a:p>
            <a:pPr indent="-317500" lvl="1" marL="914400" rtl="0" algn="l">
              <a:spcBef>
                <a:spcPts val="0"/>
              </a:spcBef>
              <a:spcAft>
                <a:spcPts val="0"/>
              </a:spcAft>
              <a:buSzPts val="1400"/>
              <a:buChar char="○"/>
            </a:pPr>
            <a:r>
              <a:rPr lang="en"/>
              <a:t>Contains sequence only data (no structures)</a:t>
            </a:r>
            <a:endParaRPr/>
          </a:p>
          <a:p>
            <a:pPr indent="-317500" lvl="1" marL="914400" rtl="0" algn="l">
              <a:spcBef>
                <a:spcPts val="0"/>
              </a:spcBef>
              <a:spcAft>
                <a:spcPts val="0"/>
              </a:spcAft>
              <a:buSzPts val="1400"/>
              <a:buChar char="○"/>
            </a:pPr>
            <a:r>
              <a:rPr lang="en"/>
              <a:t>Ambiguous search results (e.g., multiple hits for one protein name)</a:t>
            </a:r>
            <a:endParaRPr/>
          </a:p>
          <a:p>
            <a:pPr indent="-342900" lvl="0" marL="457200" rtl="0" algn="l">
              <a:spcBef>
                <a:spcPts val="0"/>
              </a:spcBef>
              <a:spcAft>
                <a:spcPts val="0"/>
              </a:spcAft>
              <a:buSzPts val="1800"/>
              <a:buChar char="●"/>
            </a:pPr>
            <a:r>
              <a:rPr lang="en"/>
              <a:t>Helpful links</a:t>
            </a:r>
            <a:endParaRPr/>
          </a:p>
          <a:p>
            <a:pPr indent="-317500" lvl="1" marL="914400" rtl="0" algn="l">
              <a:spcBef>
                <a:spcPts val="0"/>
              </a:spcBef>
              <a:spcAft>
                <a:spcPts val="0"/>
              </a:spcAft>
              <a:buSzPts val="1400"/>
              <a:buChar char="○"/>
            </a:pPr>
            <a:r>
              <a:rPr lang="en"/>
              <a:t>https://github.com/jordibc/entrez</a:t>
            </a:r>
            <a:endParaRPr/>
          </a:p>
          <a:p>
            <a:pPr indent="-317500" lvl="1" marL="914400" rtl="0" algn="l">
              <a:spcBef>
                <a:spcPts val="0"/>
              </a:spcBef>
              <a:spcAft>
                <a:spcPts val="0"/>
              </a:spcAft>
              <a:buSzPts val="1400"/>
              <a:buChar char="○"/>
            </a:pPr>
            <a:r>
              <a:rPr lang="en"/>
              <a:t>https://biopython.org/docs/1.76/api/Bio.Entrez.html</a:t>
            </a:r>
            <a:endParaRPr/>
          </a:p>
        </p:txBody>
      </p:sp>
      <p:pic>
        <p:nvPicPr>
          <p:cNvPr id="82" name="Google Shape;82;p17"/>
          <p:cNvPicPr preferRelativeResize="0"/>
          <p:nvPr/>
        </p:nvPicPr>
        <p:blipFill>
          <a:blip r:embed="rId3">
            <a:alphaModFix/>
          </a:blip>
          <a:stretch>
            <a:fillRect/>
          </a:stretch>
        </p:blipFill>
        <p:spPr>
          <a:xfrm>
            <a:off x="6535150" y="1058788"/>
            <a:ext cx="2119749" cy="1413150"/>
          </a:xfrm>
          <a:prstGeom prst="rect">
            <a:avLst/>
          </a:prstGeom>
          <a:noFill/>
          <a:ln>
            <a:noFill/>
          </a:ln>
        </p:spPr>
      </p:pic>
      <p:pic>
        <p:nvPicPr>
          <p:cNvPr id="83" name="Google Shape;83;p17"/>
          <p:cNvPicPr preferRelativeResize="0"/>
          <p:nvPr/>
        </p:nvPicPr>
        <p:blipFill>
          <a:blip r:embed="rId4">
            <a:alphaModFix/>
          </a:blip>
          <a:stretch>
            <a:fillRect/>
          </a:stretch>
        </p:blipFill>
        <p:spPr>
          <a:xfrm>
            <a:off x="6873264" y="2513025"/>
            <a:ext cx="1662075" cy="2052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3122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Option 3: Entrez CLI</a:t>
            </a:r>
            <a:endParaRPr b="1">
              <a:latin typeface="Calibri"/>
              <a:ea typeface="Calibri"/>
              <a:cs typeface="Calibri"/>
              <a:sym typeface="Calibri"/>
            </a:endParaRPr>
          </a:p>
        </p:txBody>
      </p:sp>
      <p:sp>
        <p:nvSpPr>
          <p:cNvPr id="89" name="Google Shape;89;p18"/>
          <p:cNvSpPr txBox="1"/>
          <p:nvPr>
            <p:ph idx="1" type="body"/>
          </p:nvPr>
        </p:nvSpPr>
        <p:spPr>
          <a:xfrm>
            <a:off x="311700" y="1152475"/>
            <a:ext cx="2788200" cy="10830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Same </a:t>
            </a:r>
            <a:r>
              <a:rPr lang="en"/>
              <a:t>database</a:t>
            </a:r>
            <a:r>
              <a:rPr lang="en"/>
              <a:t> and </a:t>
            </a:r>
            <a:r>
              <a:rPr lang="en"/>
              <a:t>capabilities</a:t>
            </a:r>
            <a:r>
              <a:rPr lang="en"/>
              <a:t> </a:t>
            </a:r>
            <a:endParaRPr/>
          </a:p>
          <a:p>
            <a:pPr indent="-325755" lvl="0" marL="457200" rtl="0" algn="l">
              <a:spcBef>
                <a:spcPts val="0"/>
              </a:spcBef>
              <a:spcAft>
                <a:spcPts val="0"/>
              </a:spcAft>
              <a:buSzPct val="105882"/>
              <a:buChar char="●"/>
            </a:pPr>
            <a:r>
              <a:rPr lang="en"/>
              <a:t>Good for </a:t>
            </a:r>
            <a:r>
              <a:rPr lang="en" sz="1700"/>
              <a:t>Parallel</a:t>
            </a:r>
            <a:r>
              <a:rPr lang="en" sz="1700"/>
              <a:t> computation</a:t>
            </a:r>
            <a:endParaRPr sz="1700"/>
          </a:p>
        </p:txBody>
      </p:sp>
      <p:pic>
        <p:nvPicPr>
          <p:cNvPr id="90" name="Google Shape;90;p18" title="PPInsight Conceptual Diagram.jpeg"/>
          <p:cNvPicPr preferRelativeResize="0"/>
          <p:nvPr/>
        </p:nvPicPr>
        <p:blipFill rotWithShape="1">
          <a:blip r:embed="rId3">
            <a:alphaModFix/>
          </a:blip>
          <a:srcRect b="33403" l="0" r="51364" t="30935"/>
          <a:stretch/>
        </p:blipFill>
        <p:spPr>
          <a:xfrm>
            <a:off x="5639008" y="555550"/>
            <a:ext cx="3447198" cy="1362576"/>
          </a:xfrm>
          <a:prstGeom prst="rect">
            <a:avLst/>
          </a:prstGeom>
          <a:noFill/>
          <a:ln>
            <a:noFill/>
          </a:ln>
        </p:spPr>
      </p:pic>
      <p:grpSp>
        <p:nvGrpSpPr>
          <p:cNvPr id="91" name="Google Shape;91;p18"/>
          <p:cNvGrpSpPr/>
          <p:nvPr/>
        </p:nvGrpSpPr>
        <p:grpSpPr>
          <a:xfrm>
            <a:off x="5600983" y="2235475"/>
            <a:ext cx="3288732" cy="2890799"/>
            <a:chOff x="4573319" y="1494475"/>
            <a:chExt cx="3288732" cy="2890799"/>
          </a:xfrm>
        </p:grpSpPr>
        <p:pic>
          <p:nvPicPr>
            <p:cNvPr id="92" name="Google Shape;92;p18" title="PPInsight Conceptual Diagram.jpeg"/>
            <p:cNvPicPr preferRelativeResize="0"/>
            <p:nvPr/>
          </p:nvPicPr>
          <p:blipFill rotWithShape="1">
            <a:blip r:embed="rId3">
              <a:alphaModFix/>
            </a:blip>
            <a:srcRect b="33406" l="15163" r="50639" t="29991"/>
            <a:stretch/>
          </p:blipFill>
          <p:spPr>
            <a:xfrm>
              <a:off x="6299332" y="2254343"/>
              <a:ext cx="1562718" cy="901689"/>
            </a:xfrm>
            <a:prstGeom prst="rect">
              <a:avLst/>
            </a:prstGeom>
            <a:noFill/>
            <a:ln>
              <a:noFill/>
            </a:ln>
          </p:spPr>
        </p:pic>
        <p:pic>
          <p:nvPicPr>
            <p:cNvPr id="93" name="Google Shape;93;p18" title="PPInsight Conceptual Diagram.jpeg"/>
            <p:cNvPicPr preferRelativeResize="0"/>
            <p:nvPr/>
          </p:nvPicPr>
          <p:blipFill rotWithShape="1">
            <a:blip r:embed="rId3">
              <a:alphaModFix/>
            </a:blip>
            <a:srcRect b="33406" l="0" r="85374" t="29991"/>
            <a:stretch/>
          </p:blipFill>
          <p:spPr>
            <a:xfrm>
              <a:off x="4573319" y="2317465"/>
              <a:ext cx="1439377" cy="1941951"/>
            </a:xfrm>
            <a:prstGeom prst="rect">
              <a:avLst/>
            </a:prstGeom>
            <a:noFill/>
            <a:ln>
              <a:noFill/>
            </a:ln>
          </p:spPr>
        </p:pic>
        <p:pic>
          <p:nvPicPr>
            <p:cNvPr id="94" name="Google Shape;94;p18" title="PPInsight Conceptual Diagram.jpeg"/>
            <p:cNvPicPr preferRelativeResize="0"/>
            <p:nvPr/>
          </p:nvPicPr>
          <p:blipFill rotWithShape="1">
            <a:blip r:embed="rId3">
              <a:alphaModFix/>
            </a:blip>
            <a:srcRect b="36109" l="15163" r="50639" t="29990"/>
            <a:stretch/>
          </p:blipFill>
          <p:spPr>
            <a:xfrm>
              <a:off x="6299332" y="1494475"/>
              <a:ext cx="1562699" cy="835105"/>
            </a:xfrm>
            <a:prstGeom prst="rect">
              <a:avLst/>
            </a:prstGeom>
            <a:noFill/>
            <a:ln>
              <a:noFill/>
            </a:ln>
          </p:spPr>
        </p:pic>
        <p:pic>
          <p:nvPicPr>
            <p:cNvPr id="95" name="Google Shape;95;p18" title="PPInsight Conceptual Diagram.jpeg"/>
            <p:cNvPicPr preferRelativeResize="0"/>
            <p:nvPr/>
          </p:nvPicPr>
          <p:blipFill rotWithShape="1">
            <a:blip r:embed="rId3">
              <a:alphaModFix/>
            </a:blip>
            <a:srcRect b="33406" l="15163" r="50639" t="29991"/>
            <a:stretch/>
          </p:blipFill>
          <p:spPr>
            <a:xfrm>
              <a:off x="6299332" y="3483586"/>
              <a:ext cx="1562718" cy="901689"/>
            </a:xfrm>
            <a:prstGeom prst="rect">
              <a:avLst/>
            </a:prstGeom>
            <a:noFill/>
            <a:ln>
              <a:noFill/>
            </a:ln>
          </p:spPr>
        </p:pic>
        <p:grpSp>
          <p:nvGrpSpPr>
            <p:cNvPr id="96" name="Google Shape;96;p18"/>
            <p:cNvGrpSpPr/>
            <p:nvPr/>
          </p:nvGrpSpPr>
          <p:grpSpPr>
            <a:xfrm>
              <a:off x="6917563" y="3179970"/>
              <a:ext cx="67509" cy="236881"/>
              <a:chOff x="8093200" y="975525"/>
              <a:chExt cx="119781" cy="420300"/>
            </a:xfrm>
          </p:grpSpPr>
          <p:sp>
            <p:nvSpPr>
              <p:cNvPr id="97" name="Google Shape;97;p18"/>
              <p:cNvSpPr/>
              <p:nvPr/>
            </p:nvSpPr>
            <p:spPr>
              <a:xfrm>
                <a:off x="8093200" y="975525"/>
                <a:ext cx="115500" cy="115500"/>
              </a:xfrm>
              <a:prstGeom prst="ellipse">
                <a:avLst/>
              </a:prstGeom>
              <a:solidFill>
                <a:schemeClr val="dk1"/>
              </a:solidFill>
              <a:ln cap="flat" cmpd="sng" w="5375">
                <a:solidFill>
                  <a:schemeClr val="dk1"/>
                </a:solidFill>
                <a:prstDash val="solid"/>
                <a:round/>
                <a:headEnd len="sm" w="sm" type="none"/>
                <a:tailEnd len="sm" w="sm" type="none"/>
              </a:ln>
            </p:spPr>
            <p:txBody>
              <a:bodyPr anchorCtr="0" anchor="ctr" bIns="51525" lIns="51525" spcFirstLastPara="1" rIns="51525" wrap="square" tIns="51525">
                <a:noAutofit/>
              </a:bodyPr>
              <a:lstStyle/>
              <a:p>
                <a:pPr indent="0" lvl="0" marL="0" rtl="0" algn="ctr">
                  <a:spcBef>
                    <a:spcPts val="0"/>
                  </a:spcBef>
                  <a:spcAft>
                    <a:spcPts val="0"/>
                  </a:spcAft>
                  <a:buNone/>
                </a:pPr>
                <a:r>
                  <a:t/>
                </a:r>
                <a:endParaRPr sz="789"/>
              </a:p>
            </p:txBody>
          </p:sp>
          <p:sp>
            <p:nvSpPr>
              <p:cNvPr id="98" name="Google Shape;98;p18"/>
              <p:cNvSpPr/>
              <p:nvPr/>
            </p:nvSpPr>
            <p:spPr>
              <a:xfrm>
                <a:off x="8095340" y="1127925"/>
                <a:ext cx="115500" cy="115500"/>
              </a:xfrm>
              <a:prstGeom prst="ellipse">
                <a:avLst/>
              </a:prstGeom>
              <a:solidFill>
                <a:schemeClr val="dk1"/>
              </a:solidFill>
              <a:ln cap="flat" cmpd="sng" w="5375">
                <a:solidFill>
                  <a:schemeClr val="dk1"/>
                </a:solidFill>
                <a:prstDash val="solid"/>
                <a:round/>
                <a:headEnd len="sm" w="sm" type="none"/>
                <a:tailEnd len="sm" w="sm" type="none"/>
              </a:ln>
            </p:spPr>
            <p:txBody>
              <a:bodyPr anchorCtr="0" anchor="ctr" bIns="51525" lIns="51525" spcFirstLastPara="1" rIns="51525" wrap="square" tIns="51525">
                <a:noAutofit/>
              </a:bodyPr>
              <a:lstStyle/>
              <a:p>
                <a:pPr indent="0" lvl="0" marL="0" rtl="0" algn="ctr">
                  <a:spcBef>
                    <a:spcPts val="0"/>
                  </a:spcBef>
                  <a:spcAft>
                    <a:spcPts val="0"/>
                  </a:spcAft>
                  <a:buNone/>
                </a:pPr>
                <a:r>
                  <a:t/>
                </a:r>
                <a:endParaRPr sz="789"/>
              </a:p>
            </p:txBody>
          </p:sp>
          <p:sp>
            <p:nvSpPr>
              <p:cNvPr id="99" name="Google Shape;99;p18"/>
              <p:cNvSpPr/>
              <p:nvPr/>
            </p:nvSpPr>
            <p:spPr>
              <a:xfrm>
                <a:off x="8097481" y="1280325"/>
                <a:ext cx="115500" cy="115500"/>
              </a:xfrm>
              <a:prstGeom prst="ellipse">
                <a:avLst/>
              </a:prstGeom>
              <a:solidFill>
                <a:schemeClr val="dk1"/>
              </a:solidFill>
              <a:ln cap="flat" cmpd="sng" w="5375">
                <a:solidFill>
                  <a:schemeClr val="dk1"/>
                </a:solidFill>
                <a:prstDash val="solid"/>
                <a:round/>
                <a:headEnd len="sm" w="sm" type="none"/>
                <a:tailEnd len="sm" w="sm" type="none"/>
              </a:ln>
            </p:spPr>
            <p:txBody>
              <a:bodyPr anchorCtr="0" anchor="ctr" bIns="51525" lIns="51525" spcFirstLastPara="1" rIns="51525" wrap="square" tIns="51525">
                <a:noAutofit/>
              </a:bodyPr>
              <a:lstStyle/>
              <a:p>
                <a:pPr indent="0" lvl="0" marL="0" rtl="0" algn="ctr">
                  <a:spcBef>
                    <a:spcPts val="0"/>
                  </a:spcBef>
                  <a:spcAft>
                    <a:spcPts val="0"/>
                  </a:spcAft>
                  <a:buNone/>
                </a:pPr>
                <a:r>
                  <a:t/>
                </a:r>
                <a:endParaRPr sz="789"/>
              </a:p>
            </p:txBody>
          </p:sp>
        </p:grpSp>
        <p:sp>
          <p:nvSpPr>
            <p:cNvPr id="100" name="Google Shape;100;p18"/>
            <p:cNvSpPr/>
            <p:nvPr/>
          </p:nvSpPr>
          <p:spPr>
            <a:xfrm>
              <a:off x="6093600" y="1588354"/>
              <a:ext cx="191100" cy="2635500"/>
            </a:xfrm>
            <a:prstGeom prst="leftBrace">
              <a:avLst>
                <a:gd fmla="val 50000" name="adj1"/>
                <a:gd fmla="val 50000" name="adj2"/>
              </a:avLst>
            </a:prstGeom>
            <a:noFill/>
            <a:ln cap="flat" cmpd="sng" w="7075">
              <a:solidFill>
                <a:schemeClr val="dk2"/>
              </a:solidFill>
              <a:prstDash val="solid"/>
              <a:round/>
              <a:headEnd len="sm" w="sm" type="none"/>
              <a:tailEnd len="sm" w="sm" type="none"/>
            </a:ln>
          </p:spPr>
          <p:txBody>
            <a:bodyPr anchorCtr="0" anchor="ctr" bIns="67900" lIns="67900" spcFirstLastPara="1" rIns="67900" wrap="square" tIns="67900">
              <a:noAutofit/>
            </a:bodyPr>
            <a:lstStyle/>
            <a:p>
              <a:pPr indent="0" lvl="0" marL="0" rtl="0" algn="ctr">
                <a:spcBef>
                  <a:spcPts val="0"/>
                </a:spcBef>
                <a:spcAft>
                  <a:spcPts val="0"/>
                </a:spcAft>
                <a:buNone/>
              </a:pPr>
              <a:r>
                <a:t/>
              </a:r>
              <a:endParaRPr sz="1039"/>
            </a:p>
          </p:txBody>
        </p:sp>
      </p:grpSp>
      <p:pic>
        <p:nvPicPr>
          <p:cNvPr id="101" name="Google Shape;101;p18"/>
          <p:cNvPicPr preferRelativeResize="0"/>
          <p:nvPr/>
        </p:nvPicPr>
        <p:blipFill rotWithShape="1">
          <a:blip r:embed="rId4">
            <a:alphaModFix/>
          </a:blip>
          <a:srcRect b="50680" l="0" r="51728" t="0"/>
          <a:stretch/>
        </p:blipFill>
        <p:spPr>
          <a:xfrm>
            <a:off x="3893363" y="445025"/>
            <a:ext cx="1333643" cy="1362575"/>
          </a:xfrm>
          <a:prstGeom prst="rect">
            <a:avLst/>
          </a:prstGeom>
          <a:noFill/>
          <a:ln>
            <a:noFill/>
          </a:ln>
        </p:spPr>
      </p:pic>
      <p:pic>
        <p:nvPicPr>
          <p:cNvPr id="102" name="Google Shape;102;p18"/>
          <p:cNvPicPr preferRelativeResize="0"/>
          <p:nvPr/>
        </p:nvPicPr>
        <p:blipFill rotWithShape="1">
          <a:blip r:embed="rId4">
            <a:alphaModFix/>
          </a:blip>
          <a:srcRect b="-2094" l="0" r="51728" t="50890"/>
          <a:stretch/>
        </p:blipFill>
        <p:spPr>
          <a:xfrm>
            <a:off x="3903171" y="3081202"/>
            <a:ext cx="1333650" cy="14146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Summary of Selections</a:t>
            </a:r>
            <a:endParaRPr b="1">
              <a:latin typeface="Calibri"/>
              <a:ea typeface="Calibri"/>
              <a:cs typeface="Calibri"/>
              <a:sym typeface="Calibri"/>
            </a:endParaRPr>
          </a:p>
        </p:txBody>
      </p:sp>
      <p:sp>
        <p:nvSpPr>
          <p:cNvPr id="108" name="Google Shape;108;p19"/>
          <p:cNvSpPr txBox="1"/>
          <p:nvPr>
            <p:ph idx="1" type="body"/>
          </p:nvPr>
        </p:nvSpPr>
        <p:spPr>
          <a:xfrm>
            <a:off x="311700" y="1152475"/>
            <a:ext cx="4189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Source Options </a:t>
            </a:r>
            <a:endParaRPr b="1"/>
          </a:p>
          <a:p>
            <a:pPr indent="0" lvl="0" marL="0" rtl="0" algn="l">
              <a:spcBef>
                <a:spcPts val="1200"/>
              </a:spcBef>
              <a:spcAft>
                <a:spcPts val="0"/>
              </a:spcAft>
              <a:buClr>
                <a:schemeClr val="dk1"/>
              </a:buClr>
              <a:buSzPts val="1100"/>
              <a:buFont typeface="Arial"/>
              <a:buNone/>
            </a:pPr>
            <a:r>
              <a:rPr lang="en"/>
              <a:t>Option 1: Biopython UniProt API</a:t>
            </a:r>
            <a:endParaRPr/>
          </a:p>
          <a:p>
            <a:pPr indent="0" lvl="0" marL="0" rtl="0" algn="l">
              <a:spcBef>
                <a:spcPts val="1200"/>
              </a:spcBef>
              <a:spcAft>
                <a:spcPts val="0"/>
              </a:spcAft>
              <a:buNone/>
            </a:pPr>
            <a:r>
              <a:rPr lang="en"/>
              <a:t>Option 2: Biopython Entrez</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Access Alternative </a:t>
            </a:r>
            <a:endParaRPr b="1"/>
          </a:p>
          <a:p>
            <a:pPr indent="0" lvl="0" marL="0" rtl="0" algn="l">
              <a:spcBef>
                <a:spcPts val="1200"/>
              </a:spcBef>
              <a:spcAft>
                <a:spcPts val="1200"/>
              </a:spcAft>
              <a:buNone/>
            </a:pPr>
            <a:r>
              <a:rPr lang="en"/>
              <a:t>Option 3: Entrez CLI</a:t>
            </a:r>
            <a:endParaRPr/>
          </a:p>
        </p:txBody>
      </p:sp>
      <p:grpSp>
        <p:nvGrpSpPr>
          <p:cNvPr id="109" name="Google Shape;109;p19"/>
          <p:cNvGrpSpPr/>
          <p:nvPr/>
        </p:nvGrpSpPr>
        <p:grpSpPr>
          <a:xfrm>
            <a:off x="4971099" y="249309"/>
            <a:ext cx="3861193" cy="2122086"/>
            <a:chOff x="4653894" y="1742825"/>
            <a:chExt cx="3239256" cy="1780124"/>
          </a:xfrm>
        </p:grpSpPr>
        <p:pic>
          <p:nvPicPr>
            <p:cNvPr id="110" name="Google Shape;110;p19"/>
            <p:cNvPicPr preferRelativeResize="0"/>
            <p:nvPr/>
          </p:nvPicPr>
          <p:blipFill rotWithShape="1">
            <a:blip r:embed="rId3">
              <a:alphaModFix/>
            </a:blip>
            <a:srcRect b="45196" l="0" r="0" t="0"/>
            <a:stretch/>
          </p:blipFill>
          <p:spPr>
            <a:xfrm>
              <a:off x="4653900" y="1742825"/>
              <a:ext cx="3239250" cy="1780124"/>
            </a:xfrm>
            <a:prstGeom prst="rect">
              <a:avLst/>
            </a:prstGeom>
            <a:noFill/>
            <a:ln>
              <a:noFill/>
            </a:ln>
          </p:spPr>
        </p:pic>
        <p:pic>
          <p:nvPicPr>
            <p:cNvPr id="111" name="Google Shape;111;p19"/>
            <p:cNvPicPr preferRelativeResize="0"/>
            <p:nvPr/>
          </p:nvPicPr>
          <p:blipFill>
            <a:blip r:embed="rId4">
              <a:alphaModFix/>
            </a:blip>
            <a:stretch>
              <a:fillRect/>
            </a:stretch>
          </p:blipFill>
          <p:spPr>
            <a:xfrm>
              <a:off x="4653894" y="2450950"/>
              <a:ext cx="1638882" cy="819450"/>
            </a:xfrm>
            <a:prstGeom prst="rect">
              <a:avLst/>
            </a:prstGeom>
            <a:noFill/>
            <a:ln>
              <a:noFill/>
            </a:ln>
          </p:spPr>
        </p:pic>
        <p:pic>
          <p:nvPicPr>
            <p:cNvPr id="112" name="Google Shape;112;p19"/>
            <p:cNvPicPr preferRelativeResize="0"/>
            <p:nvPr/>
          </p:nvPicPr>
          <p:blipFill>
            <a:blip r:embed="rId5">
              <a:alphaModFix/>
            </a:blip>
            <a:stretch>
              <a:fillRect/>
            </a:stretch>
          </p:blipFill>
          <p:spPr>
            <a:xfrm>
              <a:off x="6539575" y="2273000"/>
              <a:ext cx="1175349" cy="1175349"/>
            </a:xfrm>
            <a:prstGeom prst="rect">
              <a:avLst/>
            </a:prstGeom>
            <a:noFill/>
            <a:ln>
              <a:noFill/>
            </a:ln>
          </p:spPr>
        </p:pic>
      </p:grpSp>
      <p:pic>
        <p:nvPicPr>
          <p:cNvPr id="113" name="Google Shape;113;p19"/>
          <p:cNvPicPr preferRelativeResize="0"/>
          <p:nvPr/>
        </p:nvPicPr>
        <p:blipFill rotWithShape="1">
          <a:blip r:embed="rId3">
            <a:alphaModFix/>
          </a:blip>
          <a:srcRect b="45196" l="0" r="0" t="0"/>
          <a:stretch/>
        </p:blipFill>
        <p:spPr>
          <a:xfrm>
            <a:off x="4971106" y="2763384"/>
            <a:ext cx="3861186" cy="2122086"/>
          </a:xfrm>
          <a:prstGeom prst="rect">
            <a:avLst/>
          </a:prstGeom>
          <a:noFill/>
          <a:ln>
            <a:noFill/>
          </a:ln>
        </p:spPr>
      </p:pic>
      <p:pic>
        <p:nvPicPr>
          <p:cNvPr id="114" name="Google Shape;114;p19"/>
          <p:cNvPicPr preferRelativeResize="0"/>
          <p:nvPr/>
        </p:nvPicPr>
        <p:blipFill>
          <a:blip r:embed="rId6">
            <a:alphaModFix/>
          </a:blip>
          <a:stretch>
            <a:fillRect/>
          </a:stretch>
        </p:blipFill>
        <p:spPr>
          <a:xfrm>
            <a:off x="5258150" y="3582600"/>
            <a:ext cx="1479441" cy="986276"/>
          </a:xfrm>
          <a:prstGeom prst="rect">
            <a:avLst/>
          </a:prstGeom>
          <a:noFill/>
          <a:ln>
            <a:noFill/>
          </a:ln>
        </p:spPr>
      </p:pic>
      <p:pic>
        <p:nvPicPr>
          <p:cNvPr id="115" name="Google Shape;115;p19"/>
          <p:cNvPicPr preferRelativeResize="0"/>
          <p:nvPr/>
        </p:nvPicPr>
        <p:blipFill>
          <a:blip r:embed="rId5">
            <a:alphaModFix/>
          </a:blip>
          <a:stretch>
            <a:fillRect/>
          </a:stretch>
        </p:blipFill>
        <p:spPr>
          <a:xfrm>
            <a:off x="8011422" y="2763369"/>
            <a:ext cx="395475" cy="395526"/>
          </a:xfrm>
          <a:prstGeom prst="rect">
            <a:avLst/>
          </a:prstGeom>
          <a:noFill/>
          <a:ln>
            <a:noFill/>
          </a:ln>
        </p:spPr>
      </p:pic>
      <p:pic>
        <p:nvPicPr>
          <p:cNvPr id="116" name="Google Shape;116;p19"/>
          <p:cNvPicPr preferRelativeResize="0"/>
          <p:nvPr/>
        </p:nvPicPr>
        <p:blipFill>
          <a:blip r:embed="rId7">
            <a:alphaModFix/>
          </a:blip>
          <a:stretch>
            <a:fillRect/>
          </a:stretch>
        </p:blipFill>
        <p:spPr>
          <a:xfrm>
            <a:off x="7089875" y="3487662"/>
            <a:ext cx="1568200" cy="1176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